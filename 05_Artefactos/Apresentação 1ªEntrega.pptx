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50" d="100"/>
          <a:sy n="50" d="100"/>
        </p:scale>
        <p:origin x="1248" y="6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3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conteúdo técnico fornecido pela equipa no briefing desta apresentação. As capacidades e garantias descritas são objetivos do projeto e serão verificadas nos testes laboratoriais propostos.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Conteúdo fornecido pelo utilizador</a:t>
            </a:r>
            <a:r>
              <a:t>: </a:t>
            </a:r>
            <a:r>
              <a:rPr lang="pt-PT"/>
              <a:t>enredo </a:t>
            </a:r>
            <a:r>
              <a:t>e </a:t>
            </a:r>
            <a:r>
              <a:rPr lang="pt-PT"/>
              <a:t>conceito </a:t>
            </a:r>
            <a:r>
              <a:t>do </a:t>
            </a:r>
            <a:r>
              <a:rPr lang="pt-PT"/>
              <a:t>PulseChat, desafios de comunicação fragmentada, solução web unificada </a:t>
            </a:r>
            <a:r>
              <a:t>e </a:t>
            </a:r>
            <a:r>
              <a:rPr lang="pt-PT"/>
              <a:t>cinco pilares-chave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conteúdo técnico fornecido pela equipa no briefing desta apresentação. As capacidades e garantias descritas são objetivos do projeto e serão verificadas nos testes laboratoriais propostos.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conteúdo técnico fornecido pela equipa no briefing desta apresentação. As capacidades e garantias descritas são objetivos do projeto e serão verificadas nos testes laboratoriais propostos.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conteúdo técnico fornecido pela equipa no briefing desta apresentação. As capacidades e garantias descritas são objetivos do projeto e serão verificadas nos testes laboratoriais propostos.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Ligação para a arquitetura fornecida pelo utilizador</a:t>
            </a:r>
            <a:r>
              <a:t>:</a:t>
            </a:r>
            <a:endParaRPr lang="pt-PT"/>
          </a:p>
          <a:p>
            <a:r>
              <a:rPr lang="pt-PT"/>
              <a:t>https://www</a:t>
            </a:r>
            <a:r>
              <a:t>.</a:t>
            </a:r>
            <a:r>
              <a:rPr lang="pt-PT"/>
              <a:t>figma</a:t>
            </a:r>
            <a:r>
              <a:t>.</a:t>
            </a:r>
            <a:r>
              <a:rPr lang="pt-PT"/>
              <a:t>com/board/b8KJxe7ohZo81WlUE0kw50/Arquitetura-Chat-Distribu%C3%ADdo-Android?node-id=0-1&amp;t=t8GmDMnUvYKsEALk-1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conteúdo técnico fornecido pela equipa no briefing desta apresentação. As capacidades e garantias descritas são objetivos do projeto e serão verificadas nos testes laboratoriais propostos.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conteúdo técnico fornecido pela equipa no briefing desta apresentação. As capacidades e garantias descritas são objetivos do projeto e serão verificadas nos testes laboratoriais propostos.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Conclusão baseada nos objetivos e nas capacidades apresentados nos slides 3, 5 e 7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79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4304ACAD-7AA0-4F95-A338-4134A02D84E6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A7BF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A7BFCE"/>
                </a:solidFill>
                <a:latin typeface="DejaVu Sans"/>
                <a:ea typeface="DejaVu Sans"/>
                <a:cs typeface="DejaVu Sans"/>
              </a:rPr>
              <a:t>PulseChat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C12377-E61D-43CB-8C89-65E6693CE0B6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A7BF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7BFCE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4E9C4B-5E1B-4995-A37E-D1E23E4BA003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Licenciatura em Engenharia Informática | Projeto de Desenvolvimento de Software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D9AC86-80C2-4D97-9213-0FE89EEFB314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08585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7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PulseChat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DC90D72-A8BF-4FDA-9817-DDC37282D2FA}"/>
              </a:ext>
            </a:extLst>
          </p:cNvPr>
          <p:cNvSpPr>
            <a:spLocks noGrp="1"/>
          </p:cNvSpPr>
          <p:nvPr/>
        </p:nvSpPr>
        <p:spPr>
          <a:xfrm>
            <a:off x="628650" y="2981325"/>
            <a:ext cx="107632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625" b="0">
                <a:solidFill>
                  <a:srgbClr val="D9E8EF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>
                <a:solidFill>
                  <a:srgbClr val="D9E8EF"/>
                </a:solidFill>
                <a:latin typeface="DejaVu Sans"/>
                <a:ea typeface="DejaVu Sans"/>
                <a:cs typeface="DejaVu Sans"/>
              </a:rPr>
              <a:t>Plataforma </a:t>
            </a:r>
            <a:r>
              <a:rPr sz="2000" b="0" dirty="0" err="1">
                <a:solidFill>
                  <a:srgbClr val="D9E8EF"/>
                </a:solidFill>
                <a:latin typeface="DejaVu Sans"/>
                <a:ea typeface="DejaVu Sans"/>
                <a:cs typeface="DejaVu Sans"/>
              </a:rPr>
              <a:t>Distribuída</a:t>
            </a:r>
            <a:r>
              <a:rPr sz="2000" b="0" dirty="0">
                <a:solidFill>
                  <a:srgbClr val="D9E8EF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2000" b="0" dirty="0" err="1">
                <a:solidFill>
                  <a:srgbClr val="D9E8EF"/>
                </a:solidFill>
                <a:latin typeface="DejaVu Sans"/>
                <a:ea typeface="DejaVu Sans"/>
                <a:cs typeface="DejaVu Sans"/>
              </a:rPr>
              <a:t>Mensagens</a:t>
            </a:r>
            <a:r>
              <a:rPr sz="2000" b="0" dirty="0">
                <a:solidFill>
                  <a:srgbClr val="D9E8EF"/>
                </a:solidFill>
                <a:latin typeface="DejaVu Sans"/>
                <a:ea typeface="DejaVu Sans"/>
                <a:cs typeface="DejaVu Sans"/>
              </a:rPr>
              <a:t> com Alta</a:t>
            </a:r>
          </a:p>
          <a:p>
            <a:pPr algn="l">
              <a:defRPr sz="2625" b="0">
                <a:solidFill>
                  <a:srgbClr val="D9E8EF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D9E8EF"/>
                </a:solidFill>
                <a:latin typeface="DejaVu Sans"/>
                <a:ea typeface="DejaVu Sans"/>
                <a:cs typeface="DejaVu Sans"/>
              </a:rPr>
              <a:t>Disponibilidade</a:t>
            </a:r>
            <a:r>
              <a:rPr sz="2000" b="0" dirty="0">
                <a:solidFill>
                  <a:srgbClr val="D9E8EF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2000" b="0" dirty="0" err="1">
                <a:solidFill>
                  <a:srgbClr val="D9E8EF"/>
                </a:solidFill>
                <a:latin typeface="DejaVu Sans"/>
                <a:ea typeface="DejaVu Sans"/>
                <a:cs typeface="DejaVu Sans"/>
              </a:rPr>
              <a:t>Inteligência</a:t>
            </a:r>
            <a:r>
              <a:rPr sz="2000" b="0" dirty="0">
                <a:solidFill>
                  <a:srgbClr val="D9E8EF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2000" b="0" dirty="0" err="1">
                <a:solidFill>
                  <a:srgbClr val="D9E8EF"/>
                </a:solidFill>
                <a:latin typeface="DejaVu Sans"/>
                <a:ea typeface="DejaVu Sans"/>
                <a:cs typeface="DejaVu Sans"/>
              </a:rPr>
              <a:t>Segurança</a:t>
            </a:r>
            <a:endParaRPr sz="2000" b="0" dirty="0">
              <a:solidFill>
                <a:srgbClr val="D9E8E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28E7418-3AEF-4FA5-876F-700A775B02F3}"/>
              </a:ext>
            </a:extLst>
          </p:cNvPr>
          <p:cNvSpPr>
            <a:spLocks noGrp="1"/>
          </p:cNvSpPr>
          <p:nvPr/>
        </p:nvSpPr>
        <p:spPr>
          <a:xfrm>
            <a:off x="628650" y="45053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endParaRPr sz="1200" b="1" dirty="0">
              <a:solidFill>
                <a:srgbClr val="55D4C4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27DD39E-785E-4CF5-9964-EF2024B522DF}"/>
              </a:ext>
            </a:extLst>
          </p:cNvPr>
          <p:cNvSpPr>
            <a:spLocks noGrp="1"/>
          </p:cNvSpPr>
          <p:nvPr/>
        </p:nvSpPr>
        <p:spPr>
          <a:xfrm>
            <a:off x="628650" y="4933950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Márcio Quintas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F34836C-0F4B-4222-8BCC-5342C5328784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7BFCE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7BFCE"/>
                </a:solidFill>
                <a:latin typeface="DejaVu Sans"/>
                <a:ea typeface="DejaVu Sans"/>
                <a:cs typeface="DejaVu Sans"/>
              </a:rPr>
              <a:t>20241499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9D5A56A-6DF7-49B8-AAB9-4CBD871DF472}"/>
              </a:ext>
            </a:extLst>
          </p:cNvPr>
          <p:cNvSpPr>
            <a:spLocks noGrp="1"/>
          </p:cNvSpPr>
          <p:nvPr/>
        </p:nvSpPr>
        <p:spPr>
          <a:xfrm>
            <a:off x="4295775" y="4933950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Gianni Lopes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0D176E7-B074-4D52-B4AF-4766E8231E92}"/>
              </a:ext>
            </a:extLst>
          </p:cNvPr>
          <p:cNvSpPr>
            <a:spLocks noGrp="1"/>
          </p:cNvSpPr>
          <p:nvPr/>
        </p:nvSpPr>
        <p:spPr>
          <a:xfrm>
            <a:off x="4295775" y="5314950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7BFCE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7BFCE"/>
                </a:solidFill>
                <a:latin typeface="DejaVu Sans"/>
                <a:ea typeface="DejaVu Sans"/>
                <a:cs typeface="DejaVu Sans"/>
              </a:rPr>
              <a:t>20240593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2177D32-236D-45D1-9A6B-C8B60FE222EF}"/>
              </a:ext>
            </a:extLst>
          </p:cNvPr>
          <p:cNvSpPr>
            <a:spLocks noGrp="1"/>
          </p:cNvSpPr>
          <p:nvPr/>
        </p:nvSpPr>
        <p:spPr>
          <a:xfrm>
            <a:off x="7962900" y="4933950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Ngweza Van-Dúnem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377F277-CCE6-4D37-ACE5-2D9EFB5C2855}"/>
              </a:ext>
            </a:extLst>
          </p:cNvPr>
          <p:cNvSpPr>
            <a:spLocks noGrp="1"/>
          </p:cNvSpPr>
          <p:nvPr/>
        </p:nvSpPr>
        <p:spPr>
          <a:xfrm>
            <a:off x="7962900" y="5314950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7BFCE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7BFCE"/>
                </a:solidFill>
                <a:latin typeface="DejaVu Sans"/>
                <a:ea typeface="DejaVu Sans"/>
                <a:cs typeface="DejaVu Sans"/>
              </a:rPr>
              <a:t>20240075</a:t>
            </a:r>
          </a:p>
        </p:txBody>
      </p:sp>
      <p:sp>
        <p:nvSpPr>
          <p:cNvPr id="13" name="Conexão reta 12">
            <a:extLst>
              <a:ext uri="{FF2B5EF4-FFF2-40B4-BE49-F238E27FC236}">
                <a16:creationId xmlns:a16="http://schemas.microsoft.com/office/drawing/2014/main" id="{54D62D2E-D08D-4A25-B283-4143A88FCEED}"/>
              </a:ext>
            </a:extLst>
          </p:cNvPr>
          <p:cNvSpPr>
            <a:spLocks noGrp="1"/>
          </p:cNvSpPr>
          <p:nvPr/>
        </p:nvSpPr>
        <p:spPr>
          <a:xfrm>
            <a:off x="628650" y="5886450"/>
            <a:ext cx="10944225" cy="0"/>
          </a:xfrm>
          <a:prstGeom prst="line">
            <a:avLst/>
          </a:prstGeom>
          <a:noFill/>
          <a:ln w="9525">
            <a:solidFill>
              <a:srgbClr val="395367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DF227E7-A6C0-4736-B727-A2F720B6FAFA}"/>
              </a:ext>
            </a:extLst>
          </p:cNvPr>
          <p:cNvSpPr>
            <a:spLocks noGrp="1"/>
          </p:cNvSpPr>
          <p:nvPr/>
        </p:nvSpPr>
        <p:spPr>
          <a:xfrm>
            <a:off x="628650" y="60388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Ano Letivo 2026/2027 • 5.º Semestre • 1.ª Entrega</a:t>
            </a:r>
          </a:p>
        </p:txBody>
      </p:sp>
    </p:spTree>
    <p:extLst>
      <p:ext uri="{BB962C8B-B14F-4D97-AF65-F5344CB8AC3E}">
        <p14:creationId xmlns:p14="http://schemas.microsoft.com/office/powerpoint/2010/main" val="130960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35B9F02B-4B47-49D2-9B72-55BAB5E0C3A9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30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CONCEITO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1642B62-619B-4CF7-BD66-D7D8872494D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906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Porque surge o pulsechat? Um estudante, várias plataformas, uma experiência fragmentada.</a:t>
            </a:r>
          </a:p>
        </p:txBody>
      </p:sp>
      <p:sp>
        <p:nvSpPr>
          <p:cNvPr id="3" name="Conexão reta 2">
            <a:extLst>
              <a:ext uri="{FF2B5EF4-FFF2-40B4-BE49-F238E27FC236}">
                <a16:creationId xmlns:a16="http://schemas.microsoft.com/office/drawing/2014/main" id="{3A6CD3DC-4C86-4083-BCD2-D0DE89422B56}"/>
              </a:ext>
            </a:extLst>
          </p:cNvPr>
          <p:cNvSpPr>
            <a:spLocks noGrp="1"/>
          </p:cNvSpPr>
          <p:nvPr/>
        </p:nvSpPr>
        <p:spPr>
          <a:xfrm>
            <a:off x="571500" y="1933575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BEAEF4A-E405-40ED-B4E0-B21129879E0F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PulseChat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3A2E0A0-3647-47A5-91CF-7C870E33DEE7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4" name="Retângulo 5">
            <a:extLst>
              <a:ext uri="{FF2B5EF4-FFF2-40B4-BE49-F238E27FC236}">
                <a16:creationId xmlns:a16="http://schemas.microsoft.com/office/drawing/2014/main" id="{B7C08B52-3503-4E01-8987-E5E72E56D5AD}"/>
              </a:ext>
            </a:extLst>
          </p:cNvPr>
          <p:cNvSpPr>
            <a:spLocks noGrp="1"/>
          </p:cNvSpPr>
          <p:nvPr/>
        </p:nvSpPr>
        <p:spPr>
          <a:xfrm>
            <a:off x="571500" y="2409825"/>
            <a:ext cx="3476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025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Conversas pessoais</a:t>
            </a:r>
          </a:p>
        </p:txBody>
      </p:sp>
      <p:sp>
        <p:nvSpPr>
          <p:cNvPr id="25" name="Retângulo 6">
            <a:extLst>
              <a:ext uri="{FF2B5EF4-FFF2-40B4-BE49-F238E27FC236}">
                <a16:creationId xmlns:a16="http://schemas.microsoft.com/office/drawing/2014/main" id="{E69C000F-FB20-4215-8A16-E2FFCF605E04}"/>
              </a:ext>
            </a:extLst>
          </p:cNvPr>
          <p:cNvSpPr>
            <a:spLocks noGrp="1"/>
          </p:cNvSpPr>
          <p:nvPr/>
        </p:nvSpPr>
        <p:spPr>
          <a:xfrm>
            <a:off x="571500" y="3009900"/>
            <a:ext cx="338137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D5E3EC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0">
                <a:solidFill>
                  <a:srgbClr val="D5E3EC"/>
                </a:solidFill>
                <a:latin typeface="DejaVu Sans"/>
                <a:ea typeface="DejaVu Sans"/>
                <a:cs typeface="DejaVu Sans"/>
              </a:rPr>
              <a:t>Colegas e amigos espalhados</a:t>
            </a:r>
          </a:p>
        </p:txBody>
      </p:sp>
      <p:sp>
        <p:nvSpPr>
          <p:cNvPr id="26" name="Retângulo 5">
            <a:extLst>
              <a:ext uri="{FF2B5EF4-FFF2-40B4-BE49-F238E27FC236}">
                <a16:creationId xmlns:a16="http://schemas.microsoft.com/office/drawing/2014/main" id="{B7C08B52-3503-4E01-8987-E5E72E56D5AD}"/>
              </a:ext>
            </a:extLst>
          </p:cNvPr>
          <p:cNvSpPr>
            <a:spLocks noGrp="1"/>
          </p:cNvSpPr>
          <p:nvPr/>
        </p:nvSpPr>
        <p:spPr>
          <a:xfrm>
            <a:off x="4352925" y="2409825"/>
            <a:ext cx="3476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025" b="1">
                <a:solidFill>
                  <a:srgbClr val="B8A8FF"/>
                </a:solidFill>
                <a:latin typeface="DejaVu Sans"/>
                <a:ea typeface="DejaVu Sans"/>
                <a:cs typeface="DejaVu Sans"/>
              </a:rPr>
              <a:t>Comunidades</a:t>
            </a:r>
          </a:p>
        </p:txBody>
      </p:sp>
      <p:sp>
        <p:nvSpPr>
          <p:cNvPr id="27" name="Retângulo 6">
            <a:extLst>
              <a:ext uri="{FF2B5EF4-FFF2-40B4-BE49-F238E27FC236}">
                <a16:creationId xmlns:a16="http://schemas.microsoft.com/office/drawing/2014/main" id="{E69C000F-FB20-4215-8A16-E2FFCF605E04}"/>
              </a:ext>
            </a:extLst>
          </p:cNvPr>
          <p:cNvSpPr>
            <a:spLocks noGrp="1"/>
          </p:cNvSpPr>
          <p:nvPr/>
        </p:nvSpPr>
        <p:spPr>
          <a:xfrm>
            <a:off x="4352925" y="3009900"/>
            <a:ext cx="338137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D5E3EC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0">
                <a:solidFill>
                  <a:srgbClr val="D5E3EC"/>
                </a:solidFill>
                <a:latin typeface="DejaVu Sans"/>
                <a:ea typeface="DejaVu Sans"/>
                <a:cs typeface="DejaVu Sans"/>
              </a:rPr>
              <a:t>Grupos temáticos e interesses gerais</a:t>
            </a:r>
          </a:p>
        </p:txBody>
      </p:sp>
      <p:sp>
        <p:nvSpPr>
          <p:cNvPr id="28" name="Retângulo 5">
            <a:extLst>
              <a:ext uri="{FF2B5EF4-FFF2-40B4-BE49-F238E27FC236}">
                <a16:creationId xmlns:a16="http://schemas.microsoft.com/office/drawing/2014/main" id="{B7C08B52-3503-4E01-8987-E5E72E56D5AD}"/>
              </a:ext>
            </a:extLst>
          </p:cNvPr>
          <p:cNvSpPr>
            <a:spLocks noGrp="1"/>
          </p:cNvSpPr>
          <p:nvPr/>
        </p:nvSpPr>
        <p:spPr>
          <a:xfrm>
            <a:off x="8134350" y="2409825"/>
            <a:ext cx="3476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025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Trabalho e estudo</a:t>
            </a:r>
          </a:p>
        </p:txBody>
      </p:sp>
      <p:sp>
        <p:nvSpPr>
          <p:cNvPr id="29" name="Retângulo 6">
            <a:extLst>
              <a:ext uri="{FF2B5EF4-FFF2-40B4-BE49-F238E27FC236}">
                <a16:creationId xmlns:a16="http://schemas.microsoft.com/office/drawing/2014/main" id="{E69C000F-FB20-4215-8A16-E2FFCF605E04}"/>
              </a:ext>
            </a:extLst>
          </p:cNvPr>
          <p:cNvSpPr>
            <a:spLocks noGrp="1"/>
          </p:cNvSpPr>
          <p:nvPr/>
        </p:nvSpPr>
        <p:spPr>
          <a:xfrm>
            <a:off x="8134350" y="3009900"/>
            <a:ext cx="338137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D5E3EC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0">
                <a:solidFill>
                  <a:srgbClr val="D5E3EC"/>
                </a:solidFill>
                <a:latin typeface="DejaVu Sans"/>
                <a:ea typeface="DejaVu Sans"/>
                <a:cs typeface="DejaVu Sans"/>
              </a:rPr>
              <a:t>Projetos, prazos, ficheiros e tarefas dispersas</a:t>
            </a:r>
          </a:p>
        </p:txBody>
      </p:sp>
      <p:sp>
        <p:nvSpPr>
          <p:cNvPr id="30" name="Retângulo 9">
            <a:extLst>
              <a:ext uri="{FF2B5EF4-FFF2-40B4-BE49-F238E27FC236}">
                <a16:creationId xmlns:a16="http://schemas.microsoft.com/office/drawing/2014/main" id="{672DE3B9-0DCB-4183-98BE-49E78C47FA73}"/>
              </a:ext>
            </a:extLst>
          </p:cNvPr>
          <p:cNvSpPr>
            <a:spLocks noGrp="1"/>
          </p:cNvSpPr>
          <p:nvPr/>
        </p:nvSpPr>
        <p:spPr>
          <a:xfrm>
            <a:off x="571500" y="4295775"/>
            <a:ext cx="11049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350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A SOLUÇÃO</a:t>
            </a:r>
          </a:p>
        </p:txBody>
      </p:sp>
      <p:sp>
        <p:nvSpPr>
          <p:cNvPr id="31" name="Retângulo 6">
            <a:extLst>
              <a:ext uri="{FF2B5EF4-FFF2-40B4-BE49-F238E27FC236}">
                <a16:creationId xmlns:a16="http://schemas.microsoft.com/office/drawing/2014/main" id="{E69C000F-FB20-4215-8A16-E2FFCF605E04}"/>
              </a:ext>
            </a:extLst>
          </p:cNvPr>
          <p:cNvSpPr>
            <a:spLocks noGrp="1"/>
          </p:cNvSpPr>
          <p:nvPr/>
        </p:nvSpPr>
        <p:spPr>
          <a:xfrm>
            <a:off x="571500" y="4733925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D5E3EC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17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Um aplicativo unificado que centraliza conversas individuais, grupos e comunidades num único ambiente resiliente.</a:t>
            </a:r>
          </a:p>
        </p:txBody>
      </p:sp>
      <p:sp>
        <p:nvSpPr>
          <p:cNvPr id="32" name="Retângulo 6">
            <a:extLst>
              <a:ext uri="{FF2B5EF4-FFF2-40B4-BE49-F238E27FC236}">
                <a16:creationId xmlns:a16="http://schemas.microsoft.com/office/drawing/2014/main" id="{E69C000F-FB20-4215-8A16-E2FFCF605E04}"/>
              </a:ext>
            </a:extLst>
          </p:cNvPr>
          <p:cNvSpPr>
            <a:spLocks noGrp="1"/>
          </p:cNvSpPr>
          <p:nvPr/>
        </p:nvSpPr>
        <p:spPr>
          <a:xfrm>
            <a:off x="571500" y="586740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D5E3EC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650" b="0">
                <a:solidFill>
                  <a:srgbClr val="B8A8FF"/>
                </a:solidFill>
                <a:latin typeface="DejaVu Sans"/>
                <a:ea typeface="DejaVu Sans"/>
                <a:cs typeface="DejaVu Sans"/>
              </a:rPr>
              <a:t>Comunicação  |  Organização  |  Segurança  |  Inteligência Artificial  |  Tolerância a Falhas</a:t>
            </a:r>
          </a:p>
        </p:txBody>
      </p:sp>
    </p:spTree>
    <p:extLst>
      <p:ext uri="{BB962C8B-B14F-4D97-AF65-F5344CB8AC3E}">
        <p14:creationId xmlns:p14="http://schemas.microsoft.com/office/powerpoint/2010/main" val="117980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3D063256-F5BE-4EC8-BB06-B6CB978B46F2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3000" b="1" dirty="0">
                <a:solidFill>
                  <a:srgbClr val="FFFFFF"/>
                </a:solidFill>
                <a:latin typeface="DejaVu Sans"/>
              </a:rPr>
              <a:t>Pilares e Objetivos</a:t>
            </a:r>
            <a:endParaRPr lang="pt-PT" sz="30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6D4EF37-5B46-427B-B558-BD3E19EF86C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9061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Desenvolver resiliência computacional sem comprometer a integridade e experiência do utilizador.</a:t>
            </a:r>
          </a:p>
        </p:txBody>
      </p:sp>
      <p:sp>
        <p:nvSpPr>
          <p:cNvPr id="3" name="Conexão reta 2">
            <a:extLst>
              <a:ext uri="{FF2B5EF4-FFF2-40B4-BE49-F238E27FC236}">
                <a16:creationId xmlns:a16="http://schemas.microsoft.com/office/drawing/2014/main" id="{599EDCE2-8F6B-4709-AA89-C6D9D4D10EB3}"/>
              </a:ext>
            </a:extLst>
          </p:cNvPr>
          <p:cNvSpPr>
            <a:spLocks noGrp="1"/>
          </p:cNvSpPr>
          <p:nvPr/>
        </p:nvSpPr>
        <p:spPr>
          <a:xfrm>
            <a:off x="571500" y="1933575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E21B97A-ED27-46C6-B3B3-A264C65D0BCC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PulseChat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1E679DD-402A-4121-8517-6FBA6BB97528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333300E-4F1F-4DB4-A91C-6D9BD1C7EF00}"/>
              </a:ext>
            </a:extLst>
          </p:cNvPr>
          <p:cNvSpPr>
            <a:spLocks noGrp="1"/>
          </p:cNvSpPr>
          <p:nvPr/>
        </p:nvSpPr>
        <p:spPr>
          <a:xfrm>
            <a:off x="571500" y="2238375"/>
            <a:ext cx="3543300" cy="3790950"/>
          </a:xfrm>
          <a:prstGeom prst="rect">
            <a:avLst/>
          </a:prstGeom>
          <a:solidFill>
            <a:srgbClr val="112A40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E35E0D7-742D-4A83-9F09-692E4B458434}"/>
              </a:ext>
            </a:extLst>
          </p:cNvPr>
          <p:cNvSpPr>
            <a:spLocks noGrp="1"/>
          </p:cNvSpPr>
          <p:nvPr/>
        </p:nvSpPr>
        <p:spPr>
          <a:xfrm>
            <a:off x="809625" y="2524125"/>
            <a:ext cx="3095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OBJETIVO PRINCIPAL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7947F72-4AE8-4647-A597-AD5B6D8BD1BD}"/>
              </a:ext>
            </a:extLst>
          </p:cNvPr>
          <p:cNvSpPr>
            <a:spLocks noGrp="1"/>
          </p:cNvSpPr>
          <p:nvPr/>
        </p:nvSpPr>
        <p:spPr>
          <a:xfrm>
            <a:off x="809625" y="3048000"/>
            <a:ext cx="3028950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Cria</a:t>
            </a:r>
            <a:r>
              <a:rPr lang="pt-PT"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 uma app 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mensagens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distribuída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segura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tolerante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a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falhas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capaz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manter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a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operação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ativa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perante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a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quebra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controlada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202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serviços</a:t>
            </a:r>
            <a:r>
              <a:rPr sz="20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9F25081-A930-45ED-9BF3-8BD3C22B6092}"/>
              </a:ext>
            </a:extLst>
          </p:cNvPr>
          <p:cNvSpPr>
            <a:spLocks noGrp="1"/>
          </p:cNvSpPr>
          <p:nvPr/>
        </p:nvSpPr>
        <p:spPr>
          <a:xfrm>
            <a:off x="4543425" y="222885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64B47CB-3179-46B6-A75E-DB1772CB74E3}"/>
              </a:ext>
            </a:extLst>
          </p:cNvPr>
          <p:cNvSpPr>
            <a:spLocks noGrp="1"/>
          </p:cNvSpPr>
          <p:nvPr/>
        </p:nvSpPr>
        <p:spPr>
          <a:xfrm>
            <a:off x="5200650" y="2200275"/>
            <a:ext cx="6343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Desacoplamento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7085367-635A-4E34-A547-1917A1268E8D}"/>
              </a:ext>
            </a:extLst>
          </p:cNvPr>
          <p:cNvSpPr>
            <a:spLocks noGrp="1"/>
          </p:cNvSpPr>
          <p:nvPr/>
        </p:nvSpPr>
        <p:spPr>
          <a:xfrm>
            <a:off x="5200650" y="2533650"/>
            <a:ext cx="63436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Comunicação assíncrona desacoplada via Message Broker.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A1A9054-D117-480C-B7FE-51F6402D255D}"/>
              </a:ext>
            </a:extLst>
          </p:cNvPr>
          <p:cNvSpPr>
            <a:spLocks noGrp="1"/>
          </p:cNvSpPr>
          <p:nvPr/>
        </p:nvSpPr>
        <p:spPr>
          <a:xfrm>
            <a:off x="4543425" y="3038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B8A8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B8A8F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5921840-00D4-454B-8E9A-B83A9523D1B2}"/>
              </a:ext>
            </a:extLst>
          </p:cNvPr>
          <p:cNvSpPr>
            <a:spLocks noGrp="1"/>
          </p:cNvSpPr>
          <p:nvPr/>
        </p:nvSpPr>
        <p:spPr>
          <a:xfrm>
            <a:off x="5200650" y="3009900"/>
            <a:ext cx="6343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Persistência resiliente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C6328FA-BA1E-4003-9191-FA790BD2CAE3}"/>
              </a:ext>
            </a:extLst>
          </p:cNvPr>
          <p:cNvSpPr>
            <a:spLocks noGrp="1"/>
          </p:cNvSpPr>
          <p:nvPr/>
        </p:nvSpPr>
        <p:spPr>
          <a:xfrm>
            <a:off x="5200650" y="3343275"/>
            <a:ext cx="63436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Persistência tolerante a falhas e sincronização offline garantida.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E00805A-A860-44B3-A80A-CD7D5690B86B}"/>
              </a:ext>
            </a:extLst>
          </p:cNvPr>
          <p:cNvSpPr>
            <a:spLocks noGrp="1"/>
          </p:cNvSpPr>
          <p:nvPr/>
        </p:nvSpPr>
        <p:spPr>
          <a:xfrm>
            <a:off x="4543425" y="38481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4F4F40F-BC1C-432C-91A8-BBFB3C243DD4}"/>
              </a:ext>
            </a:extLst>
          </p:cNvPr>
          <p:cNvSpPr>
            <a:spLocks noGrp="1"/>
          </p:cNvSpPr>
          <p:nvPr/>
        </p:nvSpPr>
        <p:spPr>
          <a:xfrm>
            <a:off x="5200650" y="3819525"/>
            <a:ext cx="6343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Ordem e consistência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9A9357D-9883-4E26-BDAD-D61E55C73E0A}"/>
              </a:ext>
            </a:extLst>
          </p:cNvPr>
          <p:cNvSpPr>
            <a:spLocks noGrp="1"/>
          </p:cNvSpPr>
          <p:nvPr/>
        </p:nvSpPr>
        <p:spPr>
          <a:xfrm>
            <a:off x="5200650" y="4152900"/>
            <a:ext cx="63436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Ordenação rigorosa por numeração sequencial e idempotência.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5E72673-A4A8-4209-8D1A-2127316EF0FD}"/>
              </a:ext>
            </a:extLst>
          </p:cNvPr>
          <p:cNvSpPr>
            <a:spLocks noGrp="1"/>
          </p:cNvSpPr>
          <p:nvPr/>
        </p:nvSpPr>
        <p:spPr>
          <a:xfrm>
            <a:off x="4543425" y="46577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B8A8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B8A8F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2959ADE-CB11-4541-BC0A-4FC177BA2829}"/>
              </a:ext>
            </a:extLst>
          </p:cNvPr>
          <p:cNvSpPr>
            <a:spLocks noGrp="1"/>
          </p:cNvSpPr>
          <p:nvPr/>
        </p:nvSpPr>
        <p:spPr>
          <a:xfrm>
            <a:off x="5200650" y="4629150"/>
            <a:ext cx="6343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Defesa ativa com IA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5FF689C-D6CB-4939-8DA7-C80146471718}"/>
              </a:ext>
            </a:extLst>
          </p:cNvPr>
          <p:cNvSpPr>
            <a:spLocks noGrp="1"/>
          </p:cNvSpPr>
          <p:nvPr/>
        </p:nvSpPr>
        <p:spPr>
          <a:xfrm>
            <a:off x="5200650" y="4962525"/>
            <a:ext cx="63436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00" b="0" dirty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Deteção de spam e acessos anómalos.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6B66D8F-0912-4E17-9CAB-0E684E81A027}"/>
              </a:ext>
            </a:extLst>
          </p:cNvPr>
          <p:cNvSpPr>
            <a:spLocks noGrp="1"/>
          </p:cNvSpPr>
          <p:nvPr/>
        </p:nvSpPr>
        <p:spPr>
          <a:xfrm>
            <a:off x="4543425" y="546735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20BFD13-1A4C-4DBE-A65A-787F60643126}"/>
              </a:ext>
            </a:extLst>
          </p:cNvPr>
          <p:cNvSpPr>
            <a:spLocks noGrp="1"/>
          </p:cNvSpPr>
          <p:nvPr/>
        </p:nvSpPr>
        <p:spPr>
          <a:xfrm>
            <a:off x="5200650" y="5438775"/>
            <a:ext cx="6343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Validação empírica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C1F8165-25DE-4F34-9DD8-26EDF1632BA0}"/>
              </a:ext>
            </a:extLst>
          </p:cNvPr>
          <p:cNvSpPr>
            <a:spLocks noGrp="1"/>
          </p:cNvSpPr>
          <p:nvPr/>
        </p:nvSpPr>
        <p:spPr>
          <a:xfrm>
            <a:off x="5200650" y="5772150"/>
            <a:ext cx="63436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Recuperação de falhas em ambiente laboratorial controlado.</a:t>
            </a:r>
          </a:p>
        </p:txBody>
      </p:sp>
    </p:spTree>
    <p:extLst>
      <p:ext uri="{BB962C8B-B14F-4D97-AF65-F5344CB8AC3E}">
        <p14:creationId xmlns:p14="http://schemas.microsoft.com/office/powerpoint/2010/main" val="1413738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C01DDBA-4362-4981-A4A3-AB7EAA812AE0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3000" b="1" dirty="0">
                <a:solidFill>
                  <a:srgbClr val="FFFFFF"/>
                </a:solidFill>
                <a:latin typeface="DejaVu Sans"/>
              </a:rPr>
              <a:t>Integração das Unidades Curriculares</a:t>
            </a:r>
            <a:endParaRPr lang="pt-PT" sz="30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CAB0D7-3ED9-4680-BC41-79082DACF7C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9061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Aplicação integrada das diferentes áreas da Engenharia Informática.</a:t>
            </a:r>
          </a:p>
        </p:txBody>
      </p:sp>
      <p:sp>
        <p:nvSpPr>
          <p:cNvPr id="3" name="Conexão reta 2">
            <a:extLst>
              <a:ext uri="{FF2B5EF4-FFF2-40B4-BE49-F238E27FC236}">
                <a16:creationId xmlns:a16="http://schemas.microsoft.com/office/drawing/2014/main" id="{43A51F11-BDC3-4F7E-AAA5-47B1C942438E}"/>
              </a:ext>
            </a:extLst>
          </p:cNvPr>
          <p:cNvSpPr>
            <a:spLocks noGrp="1"/>
          </p:cNvSpPr>
          <p:nvPr/>
        </p:nvSpPr>
        <p:spPr>
          <a:xfrm>
            <a:off x="571500" y="1933575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005AD9D-7AAB-4DEF-BFBA-CAA4C6C79AD5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PulseChat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56B7D1A-4443-46A5-9766-C1D7D89CFF33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6" name="Tabela 5"/>
          <p:cNvGraphicFramePr/>
          <p:nvPr>
            <p:extLst>
              <p:ext uri="{D42A27DB-BD31-4B8C-83A1-F6EECF244321}">
                <p14:modId xmlns:p14="http://schemas.microsoft.com/office/powerpoint/2010/main" val="2770223102"/>
              </p:ext>
            </p:extLst>
          </p:nvPr>
        </p:nvGraphicFramePr>
        <p:xfrm>
          <a:off x="571500" y="2238375"/>
          <a:ext cx="11049000" cy="38100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ÁREA</a:t>
                      </a:r>
                    </a:p>
                  </a:txBody>
                  <a:tcPr>
                    <a:solidFill>
                      <a:srgbClr val="11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APLICAÇÃO NO PULSECHAT</a:t>
                      </a:r>
                    </a:p>
                  </a:txBody>
                  <a:tcPr>
                    <a:solidFill>
                      <a:srgbClr val="11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r>
                        <a:rPr sz="1725" b="1" dirty="0" err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Engenharia</a:t>
                      </a:r>
                      <a:r>
                        <a:rPr sz="1725" b="1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de</a:t>
                      </a:r>
                    </a:p>
                    <a:p>
                      <a:r>
                        <a:rPr sz="1725" b="1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Software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Análise</a:t>
                      </a:r>
                      <a:r>
                        <a:rPr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de </a:t>
                      </a:r>
                      <a:r>
                        <a:rPr sz="1725" b="0" dirty="0" err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requisitos</a:t>
                      </a:r>
                      <a:r>
                        <a:rPr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e </a:t>
                      </a:r>
                      <a:r>
                        <a:rPr sz="1725" b="0" dirty="0" err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casos</a:t>
                      </a:r>
                      <a:r>
                        <a:rPr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de </a:t>
                      </a:r>
                      <a:r>
                        <a:rPr sz="1725" b="0" dirty="0" err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uso</a:t>
                      </a:r>
                      <a:r>
                        <a:rPr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.</a:t>
                      </a:r>
                    </a:p>
                    <a:p>
                      <a:r>
                        <a:rPr sz="1725" b="0" dirty="0" err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Modularidade</a:t>
                      </a:r>
                      <a:r>
                        <a:rPr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e </a:t>
                      </a:r>
                      <a:r>
                        <a:rPr sz="1725" b="0" dirty="0" err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ciclo</a:t>
                      </a:r>
                      <a:r>
                        <a:rPr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de </a:t>
                      </a:r>
                      <a:r>
                        <a:rPr sz="1725" b="0" dirty="0" err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vida</a:t>
                      </a:r>
                      <a:r>
                        <a:rPr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725" b="0" dirty="0" err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ágil</a:t>
                      </a:r>
                      <a:r>
                        <a:rPr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com 10 Sprints.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Sistemas</a:t>
                      </a:r>
                    </a:p>
                    <a:p>
                      <a:r>
                        <a:rPr sz="1725" b="1" dirty="0" err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Distribuídos</a:t>
                      </a:r>
                      <a:endParaRPr sz="1725" b="1" dirty="0">
                        <a:solidFill>
                          <a:srgbClr val="17334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730" dirty="0">
                          <a:latin typeface="DejaVu Sans"/>
                        </a:rPr>
                        <a:t>Comunicação assíncrona, replicação de dados e balanceamento com tolerância a falhas.</a:t>
                      </a:r>
                      <a:endParaRPr sz="1730" b="0" dirty="0">
                        <a:solidFill>
                          <a:srgbClr val="17334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Segurança</a:t>
                      </a:r>
                    </a:p>
                    <a:p>
                      <a:r>
                        <a:rPr sz="1725" b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Informática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lang="pt-PT" sz="1725" b="0" dirty="0" err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riptografia</a:t>
                      </a:r>
                      <a:r>
                        <a:rPr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.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Inteligência</a:t>
                      </a:r>
                    </a:p>
                    <a:p>
                      <a:r>
                        <a:rPr sz="1725" b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Artificial</a:t>
                      </a:r>
                    </a:p>
                  </a:txBody>
                  <a:tcPr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Deteção</a:t>
                      </a:r>
                      <a:r>
                        <a:rPr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de </a:t>
                      </a:r>
                      <a:r>
                        <a:rPr lang="pt-PT"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mensagens maliciosas</a:t>
                      </a:r>
                      <a:r>
                        <a:rPr sz="1725" b="0" dirty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.</a:t>
                      </a:r>
                    </a:p>
                  </a:txBody>
                  <a:tcPr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178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14ACB99D-C037-485B-8520-9CF3104D7C98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Capacidades Funcionais do Sistema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3637A2C-29A1-4FA7-AF4C-E709B798001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9061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Serviços operacionais distribuídos da plataforma PulseChat.</a:t>
            </a:r>
          </a:p>
        </p:txBody>
      </p:sp>
      <p:sp>
        <p:nvSpPr>
          <p:cNvPr id="3" name="Conexão reta 2">
            <a:extLst>
              <a:ext uri="{FF2B5EF4-FFF2-40B4-BE49-F238E27FC236}">
                <a16:creationId xmlns:a16="http://schemas.microsoft.com/office/drawing/2014/main" id="{25CB46F7-3D66-42CA-AB39-9717EBC8240A}"/>
              </a:ext>
            </a:extLst>
          </p:cNvPr>
          <p:cNvSpPr>
            <a:spLocks noGrp="1"/>
          </p:cNvSpPr>
          <p:nvPr/>
        </p:nvSpPr>
        <p:spPr>
          <a:xfrm>
            <a:off x="571500" y="1933575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4134162-D7FB-4B67-9E85-81665C11F680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PulseChat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36011AE-6842-4429-8810-A5F95073793D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Conexão reta 5">
            <a:extLst>
              <a:ext uri="{FF2B5EF4-FFF2-40B4-BE49-F238E27FC236}">
                <a16:creationId xmlns:a16="http://schemas.microsoft.com/office/drawing/2014/main" id="{0C17C10C-28F4-48B4-AC2A-0EAB3C6B7825}"/>
              </a:ext>
            </a:extLst>
          </p:cNvPr>
          <p:cNvSpPr>
            <a:spLocks noGrp="1"/>
          </p:cNvSpPr>
          <p:nvPr/>
        </p:nvSpPr>
        <p:spPr>
          <a:xfrm>
            <a:off x="6096000" y="2295525"/>
            <a:ext cx="0" cy="3705225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7" name="Conexão reta 6">
            <a:extLst>
              <a:ext uri="{FF2B5EF4-FFF2-40B4-BE49-F238E27FC236}">
                <a16:creationId xmlns:a16="http://schemas.microsoft.com/office/drawing/2014/main" id="{BA66A760-16DB-417E-8530-1935C0A6820B}"/>
              </a:ext>
            </a:extLst>
          </p:cNvPr>
          <p:cNvSpPr>
            <a:spLocks noGrp="1"/>
          </p:cNvSpPr>
          <p:nvPr/>
        </p:nvSpPr>
        <p:spPr>
          <a:xfrm>
            <a:off x="571500" y="4181475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12E2DD7-F93C-4F29-9762-24D180E57D8B}"/>
              </a:ext>
            </a:extLst>
          </p:cNvPr>
          <p:cNvSpPr>
            <a:spLocks noGrp="1"/>
          </p:cNvSpPr>
          <p:nvPr/>
        </p:nvSpPr>
        <p:spPr>
          <a:xfrm>
            <a:off x="571500" y="224790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400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EA4C80C-ACD5-44B3-A440-D0472F2FDA1C}"/>
              </a:ext>
            </a:extLst>
          </p:cNvPr>
          <p:cNvSpPr>
            <a:spLocks noGrp="1"/>
          </p:cNvSpPr>
          <p:nvPr/>
        </p:nvSpPr>
        <p:spPr>
          <a:xfrm>
            <a:off x="1295400" y="2276475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Gestão de Identidade e Sessão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C6DAFA5-1F11-4C1C-A04C-D257C2FA983B}"/>
              </a:ext>
            </a:extLst>
          </p:cNvPr>
          <p:cNvSpPr>
            <a:spLocks noGrp="1"/>
          </p:cNvSpPr>
          <p:nvPr/>
        </p:nvSpPr>
        <p:spPr>
          <a:xfrm>
            <a:off x="571500" y="3019425"/>
            <a:ext cx="504825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D5E3EC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00" b="0">
                <a:solidFill>
                  <a:srgbClr val="D5E3EC"/>
                </a:solidFill>
                <a:latin typeface="DejaVu Sans"/>
                <a:ea typeface="DejaVu Sans"/>
                <a:cs typeface="DejaVu Sans"/>
              </a:rPr>
              <a:t>Registo de utilizadores, autenticação segura, gestão de perfil e mecanismos de bloqueio relacional.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909291E-D9AD-46FC-9FE7-FA1B27381588}"/>
              </a:ext>
            </a:extLst>
          </p:cNvPr>
          <p:cNvSpPr>
            <a:spLocks noGrp="1"/>
          </p:cNvSpPr>
          <p:nvPr/>
        </p:nvSpPr>
        <p:spPr>
          <a:xfrm>
            <a:off x="6515100" y="224790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B8A8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400" b="1">
                <a:solidFill>
                  <a:srgbClr val="B8A8F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B6A0A7A-1978-4CA4-826C-6BB22BA4722D}"/>
              </a:ext>
            </a:extLst>
          </p:cNvPr>
          <p:cNvSpPr>
            <a:spLocks noGrp="1"/>
          </p:cNvSpPr>
          <p:nvPr/>
        </p:nvSpPr>
        <p:spPr>
          <a:xfrm>
            <a:off x="7239000" y="2276475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Conversação e Interação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4BB6763-184F-4511-93DD-FBC333B1937B}"/>
              </a:ext>
            </a:extLst>
          </p:cNvPr>
          <p:cNvSpPr>
            <a:spLocks noGrp="1"/>
          </p:cNvSpPr>
          <p:nvPr/>
        </p:nvSpPr>
        <p:spPr>
          <a:xfrm>
            <a:off x="6515100" y="3019425"/>
            <a:ext cx="504825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D5E3EC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00" b="0" dirty="0">
                <a:solidFill>
                  <a:srgbClr val="D5E3EC"/>
                </a:solidFill>
                <a:latin typeface="DejaVu Sans"/>
                <a:ea typeface="DejaVu Sans"/>
                <a:cs typeface="DejaVu Sans"/>
              </a:rPr>
              <a:t>Chat direto privado (1-a-1) e grupos dinâmicos, com histórico persistente e pesquisa de termos.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FD0BBA9-1022-4B93-B5F7-0DC263429727}"/>
              </a:ext>
            </a:extLst>
          </p:cNvPr>
          <p:cNvSpPr>
            <a:spLocks noGrp="1"/>
          </p:cNvSpPr>
          <p:nvPr/>
        </p:nvSpPr>
        <p:spPr>
          <a:xfrm>
            <a:off x="571500" y="4467225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400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D0D9F1F-60A3-4A62-BE2F-4464C7E9CA3B}"/>
              </a:ext>
            </a:extLst>
          </p:cNvPr>
          <p:cNvSpPr>
            <a:spLocks noGrp="1"/>
          </p:cNvSpPr>
          <p:nvPr/>
        </p:nvSpPr>
        <p:spPr>
          <a:xfrm>
            <a:off x="1295400" y="4495800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Motor de Mensagens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F1C3C79-2C4B-40DC-B122-5C9E6B173662}"/>
              </a:ext>
            </a:extLst>
          </p:cNvPr>
          <p:cNvSpPr>
            <a:spLocks noGrp="1"/>
          </p:cNvSpPr>
          <p:nvPr/>
        </p:nvSpPr>
        <p:spPr>
          <a:xfrm>
            <a:off x="571500" y="5238750"/>
            <a:ext cx="504825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D5E3EC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00" b="0">
                <a:solidFill>
                  <a:srgbClr val="D5E3EC"/>
                </a:solidFill>
                <a:latin typeface="DejaVu Sans"/>
                <a:ea typeface="DejaVu Sans"/>
                <a:cs typeface="DejaVu Sans"/>
              </a:rPr>
              <a:t>Rastreio de estados completos e preservação de integridade por hash.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9F1460E-DECC-4B91-90AD-F1D6B23F7C5A}"/>
              </a:ext>
            </a:extLst>
          </p:cNvPr>
          <p:cNvSpPr>
            <a:spLocks noGrp="1"/>
          </p:cNvSpPr>
          <p:nvPr/>
        </p:nvSpPr>
        <p:spPr>
          <a:xfrm>
            <a:off x="6515100" y="4467225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B8A8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2400" b="1">
                <a:solidFill>
                  <a:srgbClr val="B8A8F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3418FD4-EFB6-4ACF-9158-06AC95167709}"/>
              </a:ext>
            </a:extLst>
          </p:cNvPr>
          <p:cNvSpPr>
            <a:spLocks noGrp="1"/>
          </p:cNvSpPr>
          <p:nvPr/>
        </p:nvSpPr>
        <p:spPr>
          <a:xfrm>
            <a:off x="7239000" y="4495800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Resiliência Offline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95F8D1D-650E-4980-A18F-669EFCCDBAE4}"/>
              </a:ext>
            </a:extLst>
          </p:cNvPr>
          <p:cNvSpPr>
            <a:spLocks noGrp="1"/>
          </p:cNvSpPr>
          <p:nvPr/>
        </p:nvSpPr>
        <p:spPr>
          <a:xfrm>
            <a:off x="6515100" y="5238750"/>
            <a:ext cx="504825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D5E3EC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00" b="0">
                <a:solidFill>
                  <a:srgbClr val="D5E3EC"/>
                </a:solidFill>
                <a:latin typeface="DejaVu Sans"/>
                <a:ea typeface="DejaVu Sans"/>
                <a:cs typeface="DejaVu Sans"/>
              </a:rPr>
              <a:t>Retenção em fila persistente para utilizadores desligados e sincronização automática após reconexão.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1D53A49-8BAB-4678-9D74-C082E3E43A1D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00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Enviada  →  Processada  →  Entregue  →  Lida</a:t>
            </a:r>
          </a:p>
        </p:txBody>
      </p:sp>
    </p:spTree>
    <p:extLst>
      <p:ext uri="{BB962C8B-B14F-4D97-AF65-F5344CB8AC3E}">
        <p14:creationId xmlns:p14="http://schemas.microsoft.com/office/powerpoint/2010/main" val="16668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43">
            <a:extLst>
              <a:ext uri="{FF2B5EF4-FFF2-40B4-BE49-F238E27FC236}">
                <a16:creationId xmlns:a16="http://schemas.microsoft.com/office/drawing/2014/main" id="{953EF19B-7AA8-4D03-876C-F4B50CE34308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Arquitetura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A4524EB-CFD7-471A-A37D-2D55B78166F9}"/>
              </a:ext>
            </a:extLst>
          </p:cNvPr>
          <p:cNvSpPr>
            <a:spLocks noGrp="1"/>
          </p:cNvSpPr>
          <p:nvPr/>
        </p:nvSpPr>
        <p:spPr>
          <a:xfrm>
            <a:off x="571500" y="109712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endParaRPr lang="pt-PT" sz="2000" b="1" u="none" dirty="0">
              <a:solidFill>
                <a:srgbClr val="55D4C4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Conexão reta 2">
            <a:extLst>
              <a:ext uri="{FF2B5EF4-FFF2-40B4-BE49-F238E27FC236}">
                <a16:creationId xmlns:a16="http://schemas.microsoft.com/office/drawing/2014/main" id="{992A918B-D31B-44E9-99B8-B8361BF14874}"/>
              </a:ext>
            </a:extLst>
          </p:cNvPr>
          <p:cNvSpPr>
            <a:spLocks noGrp="1"/>
          </p:cNvSpPr>
          <p:nvPr/>
        </p:nvSpPr>
        <p:spPr>
          <a:xfrm>
            <a:off x="571499" y="1169565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AF3F19A-8E1A-4F53-975A-CE830ECB5029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PulseChat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53D792-B5F6-486B-B02F-83FA5489D718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499" y="5353050"/>
            <a:ext cx="11049000" cy="8540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endParaRPr lang="pt-PT" sz="1650" dirty="0">
              <a:solidFill>
                <a:srgbClr val="C5D5E1"/>
              </a:solidFill>
              <a:latin typeface="DejaVu Sans"/>
            </a:endParaRPr>
          </a:p>
          <a:p>
            <a:endParaRPr lang="pt-PT" sz="1200" dirty="0">
              <a:solidFill>
                <a:srgbClr val="C5D5E1"/>
              </a:solidFill>
              <a:latin typeface="DejaVu Sans"/>
            </a:endParaRPr>
          </a:p>
          <a:p>
            <a:r>
              <a:rPr sz="1200" dirty="0">
                <a:solidFill>
                  <a:srgbClr val="C5D5E1"/>
                </a:solidFill>
                <a:latin typeface="DejaVu Sans"/>
              </a:rPr>
              <a:t>https://www.figma.com/board/b8KJxe7ohZo81WlUE0kw50/Arquitetura-Chat-Distribu%C3%ADdo-Android?node-id=0-1&amp;t=t8GmDMnUvYKsEALk-1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6A0866-4626-1851-FD3B-9179DC5E7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777" y="1478120"/>
            <a:ext cx="7282443" cy="408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29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C4114E78-F28F-4D17-979F-535B640F2D78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Matriz de Faltas e Recuperação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4B5A3CA-F356-45D6-987E-7BB66D83CFE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9061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Princípio orientador: uma falha isolada nunca deve comprometer a totalidade do ecossistema.</a:t>
            </a:r>
          </a:p>
        </p:txBody>
      </p:sp>
      <p:sp>
        <p:nvSpPr>
          <p:cNvPr id="3" name="Conexão reta 2">
            <a:extLst>
              <a:ext uri="{FF2B5EF4-FFF2-40B4-BE49-F238E27FC236}">
                <a16:creationId xmlns:a16="http://schemas.microsoft.com/office/drawing/2014/main" id="{0F6B017B-0A58-42C5-BF12-792C51FDA38E}"/>
              </a:ext>
            </a:extLst>
          </p:cNvPr>
          <p:cNvSpPr>
            <a:spLocks noGrp="1"/>
          </p:cNvSpPr>
          <p:nvPr/>
        </p:nvSpPr>
        <p:spPr>
          <a:xfrm>
            <a:off x="571500" y="1933575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910F385-3196-4512-BCB7-0C17661446D4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PulseChat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C8817D3-E33D-4D5F-B157-AEE3AC2424F6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6" name="Tabela 5"/>
          <p:cNvGraphicFramePr/>
          <p:nvPr/>
        </p:nvGraphicFramePr>
        <p:xfrm>
          <a:off x="571500" y="2266950"/>
          <a:ext cx="11049000" cy="31146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FALHA</a:t>
                      </a:r>
                    </a:p>
                  </a:txBody>
                  <a:tcPr>
                    <a:solidFill>
                      <a:srgbClr val="11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CONTINUIDADE DO SERVIÇO</a:t>
                      </a:r>
                    </a:p>
                  </a:txBody>
                  <a:tcPr>
                    <a:solidFill>
                      <a:srgbClr val="11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RECUPERAÇÃO</a:t>
                      </a:r>
                    </a:p>
                  </a:txBody>
                  <a:tcPr>
                    <a:solidFill>
                      <a:srgbClr val="11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Backend</a:t>
                      </a:r>
                    </a:p>
                    <a:p>
                      <a:r>
                        <a:rPr sz="1650" b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Node 1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Health checks detetam a queda.</a:t>
                      </a:r>
                    </a:p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 Load Balancer redireciona</a:t>
                      </a:r>
                    </a:p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 tráfego para o Node 2.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Reconexão automática das</a:t>
                      </a:r>
                    </a:p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sessões WebSocket,</a:t>
                      </a:r>
                    </a:p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sem perda de dados.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Réplica</a:t>
                      </a:r>
                    </a:p>
                    <a:p>
                      <a:r>
                        <a:rPr sz="1650" b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PostgreSQL</a:t>
                      </a:r>
                    </a:p>
                  </a:txBody>
                  <a:tcPr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 nó Primário sustenta</a:t>
                      </a:r>
                    </a:p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 processamento integral.</a:t>
                      </a:r>
                    </a:p>
                  </a:txBody>
                  <a:tcPr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réplica recupera e</a:t>
                      </a:r>
                    </a:p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ressincroniza em</a:t>
                      </a:r>
                    </a:p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segundo plano.</a:t>
                      </a:r>
                    </a:p>
                  </a:txBody>
                  <a:tcPr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Rede instável /</a:t>
                      </a:r>
                    </a:p>
                    <a:p>
                      <a:r>
                        <a:rPr sz="1650" b="1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utilizador offline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Mensagens em fila no RabbitMQ</a:t>
                      </a:r>
                    </a:p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ou persistidas como pendentes.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Entrega imediata quando</a:t>
                      </a:r>
                    </a:p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ligação é restabelecida.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tângulo 6">
            <a:extLst>
              <a:ext uri="{FF2B5EF4-FFF2-40B4-BE49-F238E27FC236}">
                <a16:creationId xmlns:a16="http://schemas.microsoft.com/office/drawing/2014/main" id="{CF99F1A3-E4B6-47F6-AF21-D0B4723FE8F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11049000" cy="571500"/>
          </a:xfrm>
          <a:prstGeom prst="rect">
            <a:avLst/>
          </a:prstGeom>
          <a:solidFill>
            <a:srgbClr val="112A40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D68ECF0-1A14-4458-8900-BE450C20697E}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2238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GARANTIA GLOBAL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61D1198-790D-49DA-83C4-6ACA7F01947F}"/>
              </a:ext>
            </a:extLst>
          </p:cNvPr>
          <p:cNvSpPr>
            <a:spLocks noGrp="1"/>
          </p:cNvSpPr>
          <p:nvPr/>
        </p:nvSpPr>
        <p:spPr>
          <a:xfrm>
            <a:off x="3067050" y="5762625"/>
            <a:ext cx="83629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Idempotência operacional evita duplicados durante reinícios e failover.</a:t>
            </a:r>
          </a:p>
        </p:txBody>
      </p:sp>
    </p:spTree>
    <p:extLst>
      <p:ext uri="{BB962C8B-B14F-4D97-AF65-F5344CB8AC3E}">
        <p14:creationId xmlns:p14="http://schemas.microsoft.com/office/powerpoint/2010/main" val="555830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E065DFC8-470F-4BE5-BC2C-C0D021F96531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Ecossistema Tecnológico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57F50B4-2C27-4A2C-B21B-3B24BE933F2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9061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7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Tecnologias adotadas na primeira fase do projeto.</a:t>
            </a:r>
          </a:p>
        </p:txBody>
      </p:sp>
      <p:sp>
        <p:nvSpPr>
          <p:cNvPr id="3" name="Conexão reta 2">
            <a:extLst>
              <a:ext uri="{FF2B5EF4-FFF2-40B4-BE49-F238E27FC236}">
                <a16:creationId xmlns:a16="http://schemas.microsoft.com/office/drawing/2014/main" id="{5E681A7C-4DC9-4243-AA42-36857816D622}"/>
              </a:ext>
            </a:extLst>
          </p:cNvPr>
          <p:cNvSpPr>
            <a:spLocks noGrp="1"/>
          </p:cNvSpPr>
          <p:nvPr/>
        </p:nvSpPr>
        <p:spPr>
          <a:xfrm>
            <a:off x="571500" y="1933575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BEDBC61-C268-4BCF-84A2-026318B27321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1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PulseChat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DAD13AD-D448-4733-B01D-08C1BF62625A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125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AE9CF3D-E44C-4B10-8A3C-61684A4D8BF0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300037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75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Frontend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EA28FF5-99DA-46F9-828A-8C95E16BAF79}"/>
              </a:ext>
            </a:extLst>
          </p:cNvPr>
          <p:cNvSpPr>
            <a:spLocks noGrp="1"/>
          </p:cNvSpPr>
          <p:nvPr/>
        </p:nvSpPr>
        <p:spPr>
          <a:xfrm>
            <a:off x="3857625" y="2181225"/>
            <a:ext cx="7715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Android </a:t>
            </a:r>
            <a:r>
              <a:rPr lang="pt-PT" sz="187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Studio</a:t>
            </a:r>
            <a:r>
              <a:rPr lang="pt-PT" sz="187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&amp; </a:t>
            </a:r>
            <a:r>
              <a:rPr lang="pt-PT" sz="187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Kotlin</a:t>
            </a:r>
            <a:endParaRPr lang="pt-PT" sz="1875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34A334F-85C5-460C-8541-F522825CB063}"/>
              </a:ext>
            </a:extLst>
          </p:cNvPr>
          <p:cNvSpPr>
            <a:spLocks noGrp="1"/>
          </p:cNvSpPr>
          <p:nvPr/>
        </p:nvSpPr>
        <p:spPr>
          <a:xfrm>
            <a:off x="3857625" y="2514600"/>
            <a:ext cx="7715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Interface limpa e reativa.</a:t>
            </a:r>
          </a:p>
        </p:txBody>
      </p:sp>
      <p:sp>
        <p:nvSpPr>
          <p:cNvPr id="9" name="Conexão reta 8">
            <a:extLst>
              <a:ext uri="{FF2B5EF4-FFF2-40B4-BE49-F238E27FC236}">
                <a16:creationId xmlns:a16="http://schemas.microsoft.com/office/drawing/2014/main" id="{71A9DE6D-39A0-4ECE-A6B5-B928D38D97FB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B8325A7-54BB-4C16-8539-6A68EE2B8834}"/>
              </a:ext>
            </a:extLst>
          </p:cNvPr>
          <p:cNvSpPr>
            <a:spLocks noGrp="1"/>
          </p:cNvSpPr>
          <p:nvPr/>
        </p:nvSpPr>
        <p:spPr>
          <a:xfrm>
            <a:off x="571500" y="2952750"/>
            <a:ext cx="300037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B8A8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75" b="1">
                <a:solidFill>
                  <a:srgbClr val="B8A8FF"/>
                </a:solidFill>
                <a:latin typeface="DejaVu Sans"/>
                <a:ea typeface="DejaVu Sans"/>
                <a:cs typeface="DejaVu Sans"/>
              </a:rPr>
              <a:t>Backend &amp; Real-Time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AC0ABE5-AD2E-4284-8D46-1CE866ED6125}"/>
              </a:ext>
            </a:extLst>
          </p:cNvPr>
          <p:cNvSpPr>
            <a:spLocks noGrp="1"/>
          </p:cNvSpPr>
          <p:nvPr/>
        </p:nvSpPr>
        <p:spPr>
          <a:xfrm>
            <a:off x="3857625" y="2847975"/>
            <a:ext cx="7715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XAMPP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30057BB-6001-4371-8EA8-227B9B749A5B}"/>
              </a:ext>
            </a:extLst>
          </p:cNvPr>
          <p:cNvSpPr>
            <a:spLocks noGrp="1"/>
          </p:cNvSpPr>
          <p:nvPr/>
        </p:nvSpPr>
        <p:spPr>
          <a:xfrm>
            <a:off x="3857625" y="3181350"/>
            <a:ext cx="7715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00" b="0" dirty="0" err="1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WebSockets</a:t>
            </a:r>
            <a:r>
              <a:rPr lang="pt-PT" sz="1500" b="0" dirty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 para canal bidirecional de mensagens.</a:t>
            </a:r>
          </a:p>
        </p:txBody>
      </p:sp>
      <p:sp>
        <p:nvSpPr>
          <p:cNvPr id="13" name="Conexão reta 12">
            <a:extLst>
              <a:ext uri="{FF2B5EF4-FFF2-40B4-BE49-F238E27FC236}">
                <a16:creationId xmlns:a16="http://schemas.microsoft.com/office/drawing/2014/main" id="{011D8C1B-2592-4CA2-8DD7-ED80D417456D}"/>
              </a:ext>
            </a:extLst>
          </p:cNvPr>
          <p:cNvSpPr>
            <a:spLocks noGrp="1"/>
          </p:cNvSpPr>
          <p:nvPr/>
        </p:nvSpPr>
        <p:spPr>
          <a:xfrm>
            <a:off x="571500" y="3467100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CDA2DB0-209C-4ED7-8244-74E1462A702A}"/>
              </a:ext>
            </a:extLst>
          </p:cNvPr>
          <p:cNvSpPr>
            <a:spLocks noGrp="1"/>
          </p:cNvSpPr>
          <p:nvPr/>
        </p:nvSpPr>
        <p:spPr>
          <a:xfrm>
            <a:off x="571500" y="3619500"/>
            <a:ext cx="300037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75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Comunicação Assíncrona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0F825B8-8F17-4981-A8D0-6AF1FBBE785F}"/>
              </a:ext>
            </a:extLst>
          </p:cNvPr>
          <p:cNvSpPr>
            <a:spLocks noGrp="1"/>
          </p:cNvSpPr>
          <p:nvPr/>
        </p:nvSpPr>
        <p:spPr>
          <a:xfrm>
            <a:off x="3857625" y="3514725"/>
            <a:ext cx="7715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RabbitMQ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22A451C-CD5A-41BF-886E-73FEA7B7A474}"/>
              </a:ext>
            </a:extLst>
          </p:cNvPr>
          <p:cNvSpPr>
            <a:spLocks noGrp="1"/>
          </p:cNvSpPr>
          <p:nvPr/>
        </p:nvSpPr>
        <p:spPr>
          <a:xfrm>
            <a:off x="3857625" y="3848100"/>
            <a:ext cx="7715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Filas persistentes e garantia de entrega.</a:t>
            </a:r>
          </a:p>
        </p:txBody>
      </p:sp>
      <p:sp>
        <p:nvSpPr>
          <p:cNvPr id="17" name="Conexão reta 16">
            <a:extLst>
              <a:ext uri="{FF2B5EF4-FFF2-40B4-BE49-F238E27FC236}">
                <a16:creationId xmlns:a16="http://schemas.microsoft.com/office/drawing/2014/main" id="{7CC5AD04-BF86-43D3-A800-A28CA0F560AF}"/>
              </a:ext>
            </a:extLst>
          </p:cNvPr>
          <p:cNvSpPr>
            <a:spLocks noGrp="1"/>
          </p:cNvSpPr>
          <p:nvPr/>
        </p:nvSpPr>
        <p:spPr>
          <a:xfrm>
            <a:off x="571500" y="4133850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1F23C28-8808-4B20-8F15-C34C2E39FF50}"/>
              </a:ext>
            </a:extLst>
          </p:cNvPr>
          <p:cNvSpPr>
            <a:spLocks noGrp="1"/>
          </p:cNvSpPr>
          <p:nvPr/>
        </p:nvSpPr>
        <p:spPr>
          <a:xfrm>
            <a:off x="571500" y="4286250"/>
            <a:ext cx="300037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B8A8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75" b="1">
                <a:solidFill>
                  <a:srgbClr val="B8A8FF"/>
                </a:solidFill>
                <a:latin typeface="DejaVu Sans"/>
                <a:ea typeface="DejaVu Sans"/>
                <a:cs typeface="DejaVu Sans"/>
              </a:rPr>
              <a:t>Persistência &amp; Cache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51D1D21-0960-42EC-9653-07AA82B634F7}"/>
              </a:ext>
            </a:extLst>
          </p:cNvPr>
          <p:cNvSpPr>
            <a:spLocks noGrp="1"/>
          </p:cNvSpPr>
          <p:nvPr/>
        </p:nvSpPr>
        <p:spPr>
          <a:xfrm>
            <a:off x="3857625" y="4181475"/>
            <a:ext cx="7715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PostgreSQL + Redis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A41D482-B0A2-492D-9B19-891C0A82D6DA}"/>
              </a:ext>
            </a:extLst>
          </p:cNvPr>
          <p:cNvSpPr>
            <a:spLocks noGrp="1"/>
          </p:cNvSpPr>
          <p:nvPr/>
        </p:nvSpPr>
        <p:spPr>
          <a:xfrm>
            <a:off x="3857625" y="4514850"/>
            <a:ext cx="7715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Cluster primário/réplica e cache volátil.</a:t>
            </a:r>
          </a:p>
        </p:txBody>
      </p:sp>
      <p:sp>
        <p:nvSpPr>
          <p:cNvPr id="21" name="Conexão reta 20">
            <a:extLst>
              <a:ext uri="{FF2B5EF4-FFF2-40B4-BE49-F238E27FC236}">
                <a16:creationId xmlns:a16="http://schemas.microsoft.com/office/drawing/2014/main" id="{65AE74DD-4C35-43D5-86D4-DB0472F0C2A2}"/>
              </a:ext>
            </a:extLst>
          </p:cNvPr>
          <p:cNvSpPr>
            <a:spLocks noGrp="1"/>
          </p:cNvSpPr>
          <p:nvPr/>
        </p:nvSpPr>
        <p:spPr>
          <a:xfrm>
            <a:off x="571500" y="4800600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8D331F7-80E4-41FC-A982-6351C8540552}"/>
              </a:ext>
            </a:extLst>
          </p:cNvPr>
          <p:cNvSpPr>
            <a:spLocks noGrp="1"/>
          </p:cNvSpPr>
          <p:nvPr/>
        </p:nvSpPr>
        <p:spPr>
          <a:xfrm>
            <a:off x="571500" y="4953000"/>
            <a:ext cx="300037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55D4C4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75" b="1">
                <a:solidFill>
                  <a:srgbClr val="55D4C4"/>
                </a:solidFill>
                <a:latin typeface="DejaVu Sans"/>
                <a:ea typeface="DejaVu Sans"/>
                <a:cs typeface="DejaVu Sans"/>
              </a:rPr>
              <a:t>Segurança &amp; IA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6039697-C9F2-4D70-91DB-6B9CE02408A3}"/>
              </a:ext>
            </a:extLst>
          </p:cNvPr>
          <p:cNvSpPr>
            <a:spLocks noGrp="1"/>
          </p:cNvSpPr>
          <p:nvPr/>
        </p:nvSpPr>
        <p:spPr>
          <a:xfrm>
            <a:off x="3857625" y="4848225"/>
            <a:ext cx="7715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87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Python</a:t>
            </a:r>
            <a:r>
              <a:rPr lang="pt-PT" sz="187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+ </a:t>
            </a:r>
            <a:r>
              <a:rPr lang="pt-PT" sz="187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Scikit-Learn</a:t>
            </a:r>
            <a:endParaRPr lang="pt-PT" sz="1875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483630E-3183-41FB-A998-71E82FA74E68}"/>
              </a:ext>
            </a:extLst>
          </p:cNvPr>
          <p:cNvSpPr>
            <a:spLocks noGrp="1"/>
          </p:cNvSpPr>
          <p:nvPr/>
        </p:nvSpPr>
        <p:spPr>
          <a:xfrm>
            <a:off x="3857625" y="5181600"/>
            <a:ext cx="7715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00" b="0">
                <a:solidFill>
                  <a:srgbClr val="C5D5E1"/>
                </a:solidFill>
                <a:latin typeface="DejaVu Sans"/>
                <a:ea typeface="DejaVu Sans"/>
                <a:cs typeface="DejaVu Sans"/>
              </a:rPr>
              <a:t>Classificação de spam/anomalias e integridade.</a:t>
            </a:r>
          </a:p>
        </p:txBody>
      </p:sp>
      <p:sp>
        <p:nvSpPr>
          <p:cNvPr id="25" name="Conexão reta 24">
            <a:extLst>
              <a:ext uri="{FF2B5EF4-FFF2-40B4-BE49-F238E27FC236}">
                <a16:creationId xmlns:a16="http://schemas.microsoft.com/office/drawing/2014/main" id="{010DE949-B05E-4E13-8E75-2F9CA7927793}"/>
              </a:ext>
            </a:extLst>
          </p:cNvPr>
          <p:cNvSpPr>
            <a:spLocks noGrp="1"/>
          </p:cNvSpPr>
          <p:nvPr/>
        </p:nvSpPr>
        <p:spPr>
          <a:xfrm>
            <a:off x="571500" y="5467350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8F0E9AA-15A4-4213-B987-207145C0496B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300037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B8A8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575" b="1">
                <a:solidFill>
                  <a:srgbClr val="B8A8FF"/>
                </a:solidFill>
                <a:latin typeface="DejaVu Sans"/>
                <a:ea typeface="DejaVu Sans"/>
                <a:cs typeface="DejaVu Sans"/>
              </a:rPr>
              <a:t>Infraestrutura &amp; DevOps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5719979-2FAC-404A-AF2A-4A8BD2989B52}"/>
              </a:ext>
            </a:extLst>
          </p:cNvPr>
          <p:cNvSpPr>
            <a:spLocks noGrp="1"/>
          </p:cNvSpPr>
          <p:nvPr/>
        </p:nvSpPr>
        <p:spPr>
          <a:xfrm>
            <a:off x="3857625" y="5514975"/>
            <a:ext cx="7715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sv-SE"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Docker, Git / GitHub, Swagger e Nginx</a:t>
            </a:r>
          </a:p>
        </p:txBody>
      </p:sp>
    </p:spTree>
    <p:extLst>
      <p:ext uri="{BB962C8B-B14F-4D97-AF65-F5344CB8AC3E}">
        <p14:creationId xmlns:p14="http://schemas.microsoft.com/office/powerpoint/2010/main" val="1497255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exão reta 2">
            <a:extLst>
              <a:ext uri="{FF2B5EF4-FFF2-40B4-BE49-F238E27FC236}">
                <a16:creationId xmlns:a16="http://schemas.microsoft.com/office/drawing/2014/main" id="{2A20D04B-8126-45B9-9D22-3B047F1B746D}"/>
              </a:ext>
            </a:extLst>
          </p:cNvPr>
          <p:cNvSpPr>
            <a:spLocks noGrp="1"/>
          </p:cNvSpPr>
          <p:nvPr/>
        </p:nvSpPr>
        <p:spPr>
          <a:xfrm>
            <a:off x="571500" y="1628775"/>
            <a:ext cx="11049000" cy="0"/>
          </a:xfrm>
          <a:prstGeom prst="line">
            <a:avLst/>
          </a:prstGeom>
          <a:noFill/>
          <a:ln w="9525">
            <a:solidFill>
              <a:srgbClr val="D6E0E6"/>
            </a:solidFill>
          </a:ln>
        </p:spPr>
        <p:txBody>
          <a:bodyPr/>
          <a:lstStyle/>
          <a:p>
            <a:endParaRPr lang="pt-PT"/>
          </a:p>
        </p:txBody>
      </p:sp>
      <p:sp>
        <p:nvSpPr>
          <p:cNvPr id="4" name="Retângulo 22">
            <a:extLst>
              <a:ext uri="{FF2B5EF4-FFF2-40B4-BE49-F238E27FC236}">
                <a16:creationId xmlns:a16="http://schemas.microsoft.com/office/drawing/2014/main" id="{E3B9E8C3-80EA-4EBB-A6DE-68335F1DF839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1350" b="1">
                <a:solidFill>
                  <a:srgbClr val="55D4C4"/>
                </a:solidFill>
                <a:latin typeface="DejaVu Sans"/>
              </a:rPr>
              <a:t>PULSECHAT</a:t>
            </a:r>
            <a:endParaRPr sz="1350" b="1">
              <a:solidFill>
                <a:srgbClr val="55D4C4"/>
              </a:solidFill>
              <a:latin typeface="DejaVu Sans"/>
            </a:endParaRPr>
          </a:p>
        </p:txBody>
      </p:sp>
      <p:sp>
        <p:nvSpPr>
          <p:cNvPr id="5" name="Retângulo 22">
            <a:extLst>
              <a:ext uri="{FF2B5EF4-FFF2-40B4-BE49-F238E27FC236}">
                <a16:creationId xmlns:a16="http://schemas.microsoft.com/office/drawing/2014/main" id="{E3B9E8C3-80EA-4EBB-A6DE-68335F1DF839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9620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3000" b="1">
                <a:solidFill>
                  <a:srgbClr val="FFFFFF"/>
                </a:solidFill>
                <a:latin typeface="DejaVu Sans"/>
              </a:rPr>
              <a:t>Conclusão</a:t>
            </a:r>
            <a:endParaRPr sz="3000" b="1" dirty="0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6" name="Retângulo 22">
            <a:extLst>
              <a:ext uri="{FF2B5EF4-FFF2-40B4-BE49-F238E27FC236}">
                <a16:creationId xmlns:a16="http://schemas.microsoft.com/office/drawing/2014/main" id="{E3B9E8C3-80EA-4EBB-A6DE-68335F1DF839}"/>
              </a:ext>
            </a:extLst>
          </p:cNvPr>
          <p:cNvSpPr>
            <a:spLocks noGrp="1"/>
          </p:cNvSpPr>
          <p:nvPr/>
        </p:nvSpPr>
        <p:spPr>
          <a:xfrm>
            <a:off x="10191750" y="4953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E1"/>
                </a:solidFill>
                <a:latin typeface="DejaVu Sans"/>
              </a:rPr>
              <a:t>09</a:t>
            </a:r>
          </a:p>
        </p:txBody>
      </p:sp>
      <p:sp>
        <p:nvSpPr>
          <p:cNvPr id="7" name="Retângulo 22">
            <a:extLst>
              <a:ext uri="{FF2B5EF4-FFF2-40B4-BE49-F238E27FC236}">
                <a16:creationId xmlns:a16="http://schemas.microsoft.com/office/drawing/2014/main" id="{E3B9E8C3-80EA-4EBB-A6DE-68335F1DF839}"/>
              </a:ext>
            </a:extLst>
          </p:cNvPr>
          <p:cNvSpPr>
            <a:spLocks noGrp="1"/>
          </p:cNvSpPr>
          <p:nvPr/>
        </p:nvSpPr>
        <p:spPr>
          <a:xfrm>
            <a:off x="566928" y="2148840"/>
            <a:ext cx="10881360" cy="1508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 dirty="0">
                <a:solidFill>
                  <a:srgbClr val="FFFFFF"/>
                </a:solidFill>
                <a:latin typeface="DejaVu Sans"/>
              </a:rPr>
              <a:t>O </a:t>
            </a:r>
            <a:r>
              <a:rPr lang="pt-PT" sz="2475" b="1">
                <a:solidFill>
                  <a:srgbClr val="FFFFFF"/>
                </a:solidFill>
                <a:latin typeface="DejaVu Sans"/>
              </a:rPr>
              <a:t>PulseChat propõe uma experiência de mensagens simples e segura, com uma arquitetura distribuída preparada para recuperar de falhas</a:t>
            </a:r>
            <a:r>
              <a:rPr sz="2475" b="1" dirty="0">
                <a:solidFill>
                  <a:srgbClr val="FFFFFF"/>
                </a:solidFill>
                <a:latin typeface="DejaVu Sans"/>
              </a:rPr>
              <a:t>.</a:t>
            </a:r>
          </a:p>
        </p:txBody>
      </p:sp>
      <p:sp>
        <p:nvSpPr>
          <p:cNvPr id="8" name="Retângulo 22">
            <a:extLst>
              <a:ext uri="{FF2B5EF4-FFF2-40B4-BE49-F238E27FC236}">
                <a16:creationId xmlns:a16="http://schemas.microsoft.com/office/drawing/2014/main" id="{E3B9E8C3-80EA-4EBB-A6DE-68335F1DF839}"/>
              </a:ext>
            </a:extLst>
          </p:cNvPr>
          <p:cNvSpPr>
            <a:spLocks noGrp="1"/>
          </p:cNvSpPr>
          <p:nvPr/>
        </p:nvSpPr>
        <p:spPr>
          <a:xfrm>
            <a:off x="566928" y="4251960"/>
            <a:ext cx="11045952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PT" sz="3225" b="1" err="1">
                <a:solidFill>
                  <a:srgbClr val="55D4C4"/>
                </a:solidFill>
                <a:latin typeface="DejaVu Sans"/>
              </a:rPr>
              <a:t>Muito obrigado!</a:t>
            </a:r>
          </a:p>
        </p:txBody>
      </p:sp>
    </p:spTree>
    <p:extLst>
      <p:ext uri="{BB962C8B-B14F-4D97-AF65-F5344CB8AC3E}">
        <p14:creationId xmlns:p14="http://schemas.microsoft.com/office/powerpoint/2010/main" val="216444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3853</TotalTime>
  <Words>875</Words>
  <Application>Microsoft Office PowerPoint</Application>
  <PresentationFormat>Ecrã Panorâmico</PresentationFormat>
  <Paragraphs>155</Paragraphs>
  <Slides>9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1" baseType="lpstr">
      <vt:lpstr>DejaVu Sans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Gianni Lopes</dc:creator>
  <cp:lastModifiedBy>Gianni Lopes</cp:lastModifiedBy>
  <cp:revision>2</cp:revision>
  <dcterms:created xsi:type="dcterms:W3CDTF">2026-10-08T23:34:11Z</dcterms:created>
  <dcterms:modified xsi:type="dcterms:W3CDTF">2026-10-11T21:45:53Z</dcterms:modified>
</cp:coreProperties>
</file>